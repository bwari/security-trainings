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1" r:id="rId8"/>
    <p:sldId id="267" r:id="rId9"/>
    <p:sldId id="268" r:id="rId10"/>
    <p:sldId id="262" r:id="rId11"/>
    <p:sldId id="266" r:id="rId12"/>
    <p:sldId id="269" r:id="rId13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2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E1C7F3-6D84-4F4E-8561-4CBA6D986C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02EA21-2ED2-49E4-9B4D-71B48C8DA3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Personal data </a:t>
          </a:r>
          <a:r>
            <a:rPr lang="en-US"/>
            <a:t>– Any information that can be used to identify a person i.e. Name , ID number, email addresses</a:t>
          </a:r>
        </a:p>
      </dgm:t>
    </dgm:pt>
    <dgm:pt modelId="{3E448502-5447-45B3-8EB4-73B12AB998AD}" type="parTrans" cxnId="{561FA61F-29CB-4FC7-924C-BE11A4D79C92}">
      <dgm:prSet/>
      <dgm:spPr/>
      <dgm:t>
        <a:bodyPr/>
        <a:lstStyle/>
        <a:p>
          <a:endParaRPr lang="en-US"/>
        </a:p>
      </dgm:t>
    </dgm:pt>
    <dgm:pt modelId="{589CC605-14A9-416A-BAF7-FECB75C4106E}" type="sibTrans" cxnId="{561FA61F-29CB-4FC7-924C-BE11A4D79C92}">
      <dgm:prSet/>
      <dgm:spPr/>
      <dgm:t>
        <a:bodyPr/>
        <a:lstStyle/>
        <a:p>
          <a:endParaRPr lang="en-US"/>
        </a:p>
      </dgm:t>
    </dgm:pt>
    <dgm:pt modelId="{C0BD1C2C-E2AD-40CE-ACF1-F04789960C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Sensitive data </a:t>
          </a:r>
          <a:r>
            <a:rPr lang="en-US"/>
            <a:t>– Type of personal data that is highly private and protected due to high risk of harm if exposed. i.e. Financial data, Health data, Biometrics, Criminal record</a:t>
          </a:r>
        </a:p>
      </dgm:t>
    </dgm:pt>
    <dgm:pt modelId="{112E60B2-7B91-465A-A427-BAFCD314DCCD}" type="parTrans" cxnId="{802B5062-BA12-4E05-A1DC-40260F8A7B10}">
      <dgm:prSet/>
      <dgm:spPr/>
      <dgm:t>
        <a:bodyPr/>
        <a:lstStyle/>
        <a:p>
          <a:endParaRPr lang="en-US"/>
        </a:p>
      </dgm:t>
    </dgm:pt>
    <dgm:pt modelId="{56E51742-C008-4B89-A56E-95AF4EFDA121}" type="sibTrans" cxnId="{802B5062-BA12-4E05-A1DC-40260F8A7B10}">
      <dgm:prSet/>
      <dgm:spPr/>
      <dgm:t>
        <a:bodyPr/>
        <a:lstStyle/>
        <a:p>
          <a:endParaRPr lang="en-US"/>
        </a:p>
      </dgm:t>
    </dgm:pt>
    <dgm:pt modelId="{60183481-CB3F-4956-8B87-E749351FBFCD}" type="pres">
      <dgm:prSet presAssocID="{42E1C7F3-6D84-4F4E-8561-4CBA6D986C5D}" presName="root" presStyleCnt="0">
        <dgm:presLayoutVars>
          <dgm:dir/>
          <dgm:resizeHandles val="exact"/>
        </dgm:presLayoutVars>
      </dgm:prSet>
      <dgm:spPr/>
    </dgm:pt>
    <dgm:pt modelId="{D401E801-A2DC-426A-A63D-48A660452134}" type="pres">
      <dgm:prSet presAssocID="{D002EA21-2ED2-49E4-9B4D-71B48C8DA39A}" presName="compNode" presStyleCnt="0"/>
      <dgm:spPr/>
    </dgm:pt>
    <dgm:pt modelId="{41ED8904-AA89-4DDD-BFAB-1367EF5BED4C}" type="pres">
      <dgm:prSet presAssocID="{D002EA21-2ED2-49E4-9B4D-71B48C8DA39A}" presName="bgRect" presStyleLbl="bgShp" presStyleIdx="0" presStyleCnt="2"/>
      <dgm:spPr/>
    </dgm:pt>
    <dgm:pt modelId="{D0E5CEAC-689B-4554-9E44-0D77876646E1}" type="pres">
      <dgm:prSet presAssocID="{D002EA21-2ED2-49E4-9B4D-71B48C8DA39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8952CE2C-13A9-446E-BDA9-855EE52C294D}" type="pres">
      <dgm:prSet presAssocID="{D002EA21-2ED2-49E4-9B4D-71B48C8DA39A}" presName="spaceRect" presStyleCnt="0"/>
      <dgm:spPr/>
    </dgm:pt>
    <dgm:pt modelId="{DC761231-D1A3-418A-B457-43821FE5FBBA}" type="pres">
      <dgm:prSet presAssocID="{D002EA21-2ED2-49E4-9B4D-71B48C8DA39A}" presName="parTx" presStyleLbl="revTx" presStyleIdx="0" presStyleCnt="2">
        <dgm:presLayoutVars>
          <dgm:chMax val="0"/>
          <dgm:chPref val="0"/>
        </dgm:presLayoutVars>
      </dgm:prSet>
      <dgm:spPr/>
    </dgm:pt>
    <dgm:pt modelId="{DB073C6D-AAA3-4041-8D1C-D28118F59FC7}" type="pres">
      <dgm:prSet presAssocID="{589CC605-14A9-416A-BAF7-FECB75C4106E}" presName="sibTrans" presStyleCnt="0"/>
      <dgm:spPr/>
    </dgm:pt>
    <dgm:pt modelId="{5BDED664-008D-463C-8AC5-AC478F29B716}" type="pres">
      <dgm:prSet presAssocID="{C0BD1C2C-E2AD-40CE-ACF1-F04789960CD4}" presName="compNode" presStyleCnt="0"/>
      <dgm:spPr/>
    </dgm:pt>
    <dgm:pt modelId="{AB60BC6C-D1C6-4402-8B19-6419B53F07A4}" type="pres">
      <dgm:prSet presAssocID="{C0BD1C2C-E2AD-40CE-ACF1-F04789960CD4}" presName="bgRect" presStyleLbl="bgShp" presStyleIdx="1" presStyleCnt="2"/>
      <dgm:spPr/>
    </dgm:pt>
    <dgm:pt modelId="{6A2D8EBC-F68E-46BE-9FD6-D0C0D19BC470}" type="pres">
      <dgm:prSet presAssocID="{C0BD1C2C-E2AD-40CE-ACF1-F04789960CD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8A4B04D-30CB-4A2E-AFB5-AF3194F7642A}" type="pres">
      <dgm:prSet presAssocID="{C0BD1C2C-E2AD-40CE-ACF1-F04789960CD4}" presName="spaceRect" presStyleCnt="0"/>
      <dgm:spPr/>
    </dgm:pt>
    <dgm:pt modelId="{D7C98AAD-AD48-4AC6-9FA8-BAFAC443B774}" type="pres">
      <dgm:prSet presAssocID="{C0BD1C2C-E2AD-40CE-ACF1-F04789960CD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61FA61F-29CB-4FC7-924C-BE11A4D79C92}" srcId="{42E1C7F3-6D84-4F4E-8561-4CBA6D986C5D}" destId="{D002EA21-2ED2-49E4-9B4D-71B48C8DA39A}" srcOrd="0" destOrd="0" parTransId="{3E448502-5447-45B3-8EB4-73B12AB998AD}" sibTransId="{589CC605-14A9-416A-BAF7-FECB75C4106E}"/>
    <dgm:cxn modelId="{31E98132-A490-45A7-9798-F3A9F1087020}" type="presOf" srcId="{D002EA21-2ED2-49E4-9B4D-71B48C8DA39A}" destId="{DC761231-D1A3-418A-B457-43821FE5FBBA}" srcOrd="0" destOrd="0" presId="urn:microsoft.com/office/officeart/2018/2/layout/IconVerticalSolidList"/>
    <dgm:cxn modelId="{802B5062-BA12-4E05-A1DC-40260F8A7B10}" srcId="{42E1C7F3-6D84-4F4E-8561-4CBA6D986C5D}" destId="{C0BD1C2C-E2AD-40CE-ACF1-F04789960CD4}" srcOrd="1" destOrd="0" parTransId="{112E60B2-7B91-465A-A427-BAFCD314DCCD}" sibTransId="{56E51742-C008-4B89-A56E-95AF4EFDA121}"/>
    <dgm:cxn modelId="{DA226078-C5CB-47CE-BCF2-2EDE53748F34}" type="presOf" srcId="{42E1C7F3-6D84-4F4E-8561-4CBA6D986C5D}" destId="{60183481-CB3F-4956-8B87-E749351FBFCD}" srcOrd="0" destOrd="0" presId="urn:microsoft.com/office/officeart/2018/2/layout/IconVerticalSolidList"/>
    <dgm:cxn modelId="{158645E6-B4DE-4AB3-A3BE-D8D30043297A}" type="presOf" srcId="{C0BD1C2C-E2AD-40CE-ACF1-F04789960CD4}" destId="{D7C98AAD-AD48-4AC6-9FA8-BAFAC443B774}" srcOrd="0" destOrd="0" presId="urn:microsoft.com/office/officeart/2018/2/layout/IconVerticalSolidList"/>
    <dgm:cxn modelId="{903B765A-C8B8-47C3-BBEF-FDC55040EB7A}" type="presParOf" srcId="{60183481-CB3F-4956-8B87-E749351FBFCD}" destId="{D401E801-A2DC-426A-A63D-48A660452134}" srcOrd="0" destOrd="0" presId="urn:microsoft.com/office/officeart/2018/2/layout/IconVerticalSolidList"/>
    <dgm:cxn modelId="{BC6099FF-7268-45FE-8BFA-FF779EFA3FE7}" type="presParOf" srcId="{D401E801-A2DC-426A-A63D-48A660452134}" destId="{41ED8904-AA89-4DDD-BFAB-1367EF5BED4C}" srcOrd="0" destOrd="0" presId="urn:microsoft.com/office/officeart/2018/2/layout/IconVerticalSolidList"/>
    <dgm:cxn modelId="{58FCEE96-4B78-4A60-AACB-CB8B6B64F989}" type="presParOf" srcId="{D401E801-A2DC-426A-A63D-48A660452134}" destId="{D0E5CEAC-689B-4554-9E44-0D77876646E1}" srcOrd="1" destOrd="0" presId="urn:microsoft.com/office/officeart/2018/2/layout/IconVerticalSolidList"/>
    <dgm:cxn modelId="{A41C33CC-FEBA-4C82-A969-D091826BB94C}" type="presParOf" srcId="{D401E801-A2DC-426A-A63D-48A660452134}" destId="{8952CE2C-13A9-446E-BDA9-855EE52C294D}" srcOrd="2" destOrd="0" presId="urn:microsoft.com/office/officeart/2018/2/layout/IconVerticalSolidList"/>
    <dgm:cxn modelId="{2B43EEE4-5797-4743-9B46-35E90CA06574}" type="presParOf" srcId="{D401E801-A2DC-426A-A63D-48A660452134}" destId="{DC761231-D1A3-418A-B457-43821FE5FBBA}" srcOrd="3" destOrd="0" presId="urn:microsoft.com/office/officeart/2018/2/layout/IconVerticalSolidList"/>
    <dgm:cxn modelId="{AA90D9D7-8258-4E80-BC23-A4DAF5D89F58}" type="presParOf" srcId="{60183481-CB3F-4956-8B87-E749351FBFCD}" destId="{DB073C6D-AAA3-4041-8D1C-D28118F59FC7}" srcOrd="1" destOrd="0" presId="urn:microsoft.com/office/officeart/2018/2/layout/IconVerticalSolidList"/>
    <dgm:cxn modelId="{869A80FC-2349-4A48-BF89-2B84E9AFEECB}" type="presParOf" srcId="{60183481-CB3F-4956-8B87-E749351FBFCD}" destId="{5BDED664-008D-463C-8AC5-AC478F29B716}" srcOrd="2" destOrd="0" presId="urn:microsoft.com/office/officeart/2018/2/layout/IconVerticalSolidList"/>
    <dgm:cxn modelId="{BA03FAA8-D2AC-4004-8739-44E9D795164B}" type="presParOf" srcId="{5BDED664-008D-463C-8AC5-AC478F29B716}" destId="{AB60BC6C-D1C6-4402-8B19-6419B53F07A4}" srcOrd="0" destOrd="0" presId="urn:microsoft.com/office/officeart/2018/2/layout/IconVerticalSolidList"/>
    <dgm:cxn modelId="{9FC816C3-2CFB-4CA1-9121-CC008651D356}" type="presParOf" srcId="{5BDED664-008D-463C-8AC5-AC478F29B716}" destId="{6A2D8EBC-F68E-46BE-9FD6-D0C0D19BC470}" srcOrd="1" destOrd="0" presId="urn:microsoft.com/office/officeart/2018/2/layout/IconVerticalSolidList"/>
    <dgm:cxn modelId="{5D836392-CBAF-440E-87CC-ED0C7E569356}" type="presParOf" srcId="{5BDED664-008D-463C-8AC5-AC478F29B716}" destId="{A8A4B04D-30CB-4A2E-AFB5-AF3194F7642A}" srcOrd="2" destOrd="0" presId="urn:microsoft.com/office/officeart/2018/2/layout/IconVerticalSolidList"/>
    <dgm:cxn modelId="{7A62C55D-7C70-48C9-801A-A82962A6C68D}" type="presParOf" srcId="{5BDED664-008D-463C-8AC5-AC478F29B716}" destId="{D7C98AAD-AD48-4AC6-9FA8-BAFAC443B7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D8904-AA89-4DDD-BFAB-1367EF5BED4C}">
      <dsp:nvSpPr>
        <dsp:cNvPr id="0" name=""/>
        <dsp:cNvSpPr/>
      </dsp:nvSpPr>
      <dsp:spPr>
        <a:xfrm>
          <a:off x="0" y="903636"/>
          <a:ext cx="6303729" cy="16682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5CEAC-689B-4554-9E44-0D77876646E1}">
      <dsp:nvSpPr>
        <dsp:cNvPr id="0" name=""/>
        <dsp:cNvSpPr/>
      </dsp:nvSpPr>
      <dsp:spPr>
        <a:xfrm>
          <a:off x="504646" y="1278992"/>
          <a:ext cx="917538" cy="9175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61231-D1A3-418A-B457-43821FE5FBBA}">
      <dsp:nvSpPr>
        <dsp:cNvPr id="0" name=""/>
        <dsp:cNvSpPr/>
      </dsp:nvSpPr>
      <dsp:spPr>
        <a:xfrm>
          <a:off x="1926830" y="903636"/>
          <a:ext cx="4376898" cy="1668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557" tIns="176557" rIns="176557" bIns="17655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Personal data </a:t>
          </a:r>
          <a:r>
            <a:rPr lang="en-US" sz="1700" kern="1200"/>
            <a:t>– Any information that can be used to identify a person i.e. Name , ID number, email addresses</a:t>
          </a:r>
        </a:p>
      </dsp:txBody>
      <dsp:txXfrm>
        <a:off x="1926830" y="903636"/>
        <a:ext cx="4376898" cy="1668251"/>
      </dsp:txXfrm>
    </dsp:sp>
    <dsp:sp modelId="{AB60BC6C-D1C6-4402-8B19-6419B53F07A4}">
      <dsp:nvSpPr>
        <dsp:cNvPr id="0" name=""/>
        <dsp:cNvSpPr/>
      </dsp:nvSpPr>
      <dsp:spPr>
        <a:xfrm>
          <a:off x="0" y="2988950"/>
          <a:ext cx="6303729" cy="16682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D8EBC-F68E-46BE-9FD6-D0C0D19BC470}">
      <dsp:nvSpPr>
        <dsp:cNvPr id="0" name=""/>
        <dsp:cNvSpPr/>
      </dsp:nvSpPr>
      <dsp:spPr>
        <a:xfrm>
          <a:off x="504646" y="3364307"/>
          <a:ext cx="917538" cy="9175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98AAD-AD48-4AC6-9FA8-BAFAC443B774}">
      <dsp:nvSpPr>
        <dsp:cNvPr id="0" name=""/>
        <dsp:cNvSpPr/>
      </dsp:nvSpPr>
      <dsp:spPr>
        <a:xfrm>
          <a:off x="1926830" y="2988950"/>
          <a:ext cx="4376898" cy="1668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557" tIns="176557" rIns="176557" bIns="17655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Sensitive data </a:t>
          </a:r>
          <a:r>
            <a:rPr lang="en-US" sz="1700" kern="1200"/>
            <a:t>– Type of personal data that is highly private and protected due to high risk of harm if exposed. i.e. Financial data, Health data, Biometrics, Criminal record</a:t>
          </a:r>
        </a:p>
      </dsp:txBody>
      <dsp:txXfrm>
        <a:off x="1926830" y="2988950"/>
        <a:ext cx="4376898" cy="1668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FEE5-54F8-3968-42BD-AA5CFAF56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ACB27-A01C-53A1-A3D2-13DFBA35C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F2BA4-AED2-1DB3-88B7-3CE49775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BB29C-5844-1003-5E84-FFFE9F61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8F429-CEA7-E02B-64D8-43B0BBC7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1545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B7CC-F497-F018-3AA8-D11850234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E122-27A3-77E3-36AC-FBDF3DB65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2F9A8-F33D-15CC-5C0E-48D66A52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AB50B-996D-28A0-39BC-12EDE50E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A5E-7335-4737-FD58-6AFFAC7F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3286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3E26-871C-F196-D4F3-15DB57FD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DF242-0964-323C-D8C4-1D58BB2F4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B9BED-C249-ACFD-8ED1-B3FB81DE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6A778-9D30-60F9-E27D-2511F6A5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F0F1-CBF6-E36B-98D9-38CD3F14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6937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06D9-CD23-5F79-99D1-4F01FF669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6E8A-0529-5C12-FA3D-828BECAF3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C10C3-4726-B1B6-F6DE-85D49E85F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B563F-20B0-4A5D-CDE7-774B0A41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CC78D-8C0D-655E-2D0E-CCBF6AA9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9B362-DEFD-84F0-AB45-461018D8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8585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3FCD-3FB4-C729-6B62-E55C7A50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BA29D-485A-20E1-AF9D-09D74BD88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786E4-4C56-1358-3612-BCB4957B8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2488C-1F46-6B1A-4151-C9B489340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03205-4F67-F2FA-0213-60EF01183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4D2E30-6C41-A720-5832-050DAA65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6574BC-EA51-E632-6014-277FCB37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6A295-AB20-9855-597A-17F96468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6495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F0A2-C689-6624-4109-AC065D1A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495E8-7B55-0388-8F7B-07A247DF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63BAE-369B-B349-44C6-F87320AC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A1ED8-F8C5-BFC5-8A4C-02EBC7BF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753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DD694-8AE8-6776-7927-AACCE08A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B6083-B676-EB6F-27B0-92E3CC05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2B9AF-600A-9C51-D081-188A2A28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1583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96DE-1818-055D-F879-FB9B924E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3B5D0-CDD0-87CB-6183-E24D2E300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CEB96-2390-333F-E348-23B6AE661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374CA-17BA-FFDC-8CD8-5BFEE537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1EE6B-15A1-33FA-4DF3-AB841CA1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BA11E-729A-AE4E-61F1-04B3B39C2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9353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B0A9-9065-21BD-3897-7590FC89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36942-41EC-C3C7-3FA2-E37E3FB1A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C8BCF-CEE8-5CCC-651C-ADCF2E9C6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AF415-8DB3-97CA-DAAA-418DEB94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6C75D-B8C8-32B8-36D9-B06DDCC9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FF50B-C4A7-9DA9-8238-2D70FC8B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122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508D-B904-853B-B90B-600239D4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458E8-A944-7B3F-4B5B-496032D18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271C-248C-1C75-3A4D-536CB069B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57D59-8726-F236-9FED-2D29C10C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4DF05-0715-EB14-A8A2-2E16991E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003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2B9339-BD55-0F47-E524-29E64EC77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F1774-F867-9837-903B-79EA68F9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09EBA-0232-F55E-7BA7-5622C2C2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5348B-AAC0-4CF5-2FCC-44618BE5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99CAE-68B9-8156-398C-1D26E24C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5577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38E09-0A1B-B5F2-C97F-E8B7493D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A9E13-BD64-A34C-3556-59FC397C4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14DD5-1448-350A-68F0-1C02D5133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AA389D-0417-454C-800E-51751C17B6A5}" type="datetimeFigureOut">
              <a:rPr lang="en-KE" smtClean="0"/>
              <a:t>31/12/2025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A7DF3-0F6F-A254-131E-7D75885DF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41786-A565-2E41-E680-D3DD140CD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F9027F-BB29-4279-909D-D44BAD7CDB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2657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3ECE1-E6E6-733E-60C5-B386FB011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dirty="0"/>
              <a:t>SECURITY AWARENESS TRAINING</a:t>
            </a:r>
            <a:endParaRPr lang="en-KE" sz="8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21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1E2E8-1F74-7181-74D4-6EF508C77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FUNDAMENTALS</a:t>
            </a:r>
            <a:endParaRPr lang="en-KE" sz="5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F668D-25B9-085B-0E73-ED712D374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Cybersecurity</a:t>
            </a:r>
            <a:r>
              <a:rPr lang="en-US" sz="2200" dirty="0"/>
              <a:t> - Practices, processes, and controls used to protect information, systems, and services from unauthorized access, disruption, or misuse.</a:t>
            </a:r>
          </a:p>
          <a:p>
            <a:r>
              <a:rPr lang="en-US" sz="2200" dirty="0"/>
              <a:t>It is important to have awareness as human beings are the weakest factor when it comes to security.</a:t>
            </a:r>
            <a:endParaRPr lang="en-KE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26E7B-8456-CAFE-C116-FFAEDFB4D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846160"/>
            <a:ext cx="4564659" cy="393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33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0C35A-492E-5920-93BE-83887A6A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SOCIAL ENGINEERING &amp; PHISHING</a:t>
            </a:r>
            <a:endParaRPr lang="en-KE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B4B3F-3DE2-0459-3571-3D2FAB2FBA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67" b="-2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D14DF-E642-1B2C-C320-E243D54E1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r>
              <a:rPr lang="en-US" sz="1800" b="1" dirty="0"/>
              <a:t>Social Engineering </a:t>
            </a:r>
            <a:r>
              <a:rPr lang="en-US" sz="1800" dirty="0"/>
              <a:t>– Psychological manipulation used to trick user into exposing confidential data or performing risk action that compromise an organization’s security defenses</a:t>
            </a:r>
          </a:p>
          <a:p>
            <a:pPr algn="just"/>
            <a:r>
              <a:rPr lang="en-US" sz="1800" b="1" dirty="0"/>
              <a:t>Phishing</a:t>
            </a:r>
            <a:r>
              <a:rPr lang="en-US" sz="1800" dirty="0"/>
              <a:t> – Form of social engineering where an attacker impersonates a trusted entity and uses text or voice to obtain sensitive information</a:t>
            </a:r>
            <a:endParaRPr lang="en-KE" sz="1800" dirty="0"/>
          </a:p>
        </p:txBody>
      </p:sp>
    </p:spTree>
    <p:extLst>
      <p:ext uri="{BB962C8B-B14F-4D97-AF65-F5344CB8AC3E}">
        <p14:creationId xmlns:p14="http://schemas.microsoft.com/office/powerpoint/2010/main" val="34714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1CCA-F8E6-788D-A166-5647FCB7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EC978-1D6F-4F8B-AB7A-9C5AF565E3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Why phishing works</a:t>
            </a:r>
          </a:p>
          <a:p>
            <a:r>
              <a:rPr lang="en-US" sz="1800" dirty="0"/>
              <a:t>Urgency – “Act now or there will be consequences or loss”</a:t>
            </a:r>
          </a:p>
          <a:p>
            <a:r>
              <a:rPr lang="en-US" sz="1800" dirty="0"/>
              <a:t>Authority – “ From your manager”</a:t>
            </a:r>
          </a:p>
          <a:p>
            <a:pPr algn="just"/>
            <a:r>
              <a:rPr lang="en-US" sz="1800" dirty="0"/>
              <a:t>Fear – “ Consequences of inaction”</a:t>
            </a:r>
          </a:p>
          <a:p>
            <a:r>
              <a:rPr lang="en-US" sz="1800" dirty="0"/>
              <a:t>Curiosity – “Click the link below for more</a:t>
            </a:r>
            <a:r>
              <a:rPr lang="en-US" sz="2000" dirty="0"/>
              <a:t>”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Reasons for phishing</a:t>
            </a:r>
          </a:p>
          <a:p>
            <a:r>
              <a:rPr lang="en-US" sz="2000" dirty="0"/>
              <a:t>Credential Theft</a:t>
            </a:r>
          </a:p>
          <a:p>
            <a:r>
              <a:rPr lang="en-US" sz="2000" dirty="0"/>
              <a:t>Malware Delivery</a:t>
            </a:r>
          </a:p>
          <a:p>
            <a:r>
              <a:rPr lang="en-US" sz="2000" dirty="0"/>
              <a:t>Data Exfiltration</a:t>
            </a:r>
          </a:p>
          <a:p>
            <a:r>
              <a:rPr lang="en-US" sz="2000" dirty="0"/>
              <a:t>Financial Fraud</a:t>
            </a:r>
            <a:endParaRPr lang="en-KE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B44E7-2B73-BB99-04C3-C9C55DBF34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How to identify phishing attacks</a:t>
            </a:r>
          </a:p>
          <a:p>
            <a:r>
              <a:rPr lang="en-US" sz="1800" dirty="0"/>
              <a:t>Examine the sender address if via email</a:t>
            </a:r>
          </a:p>
          <a:p>
            <a:pPr algn="just"/>
            <a:r>
              <a:rPr lang="en-US" sz="1800" dirty="0"/>
              <a:t>Unexpected requests </a:t>
            </a:r>
          </a:p>
          <a:p>
            <a:r>
              <a:rPr lang="en-US" sz="1800" dirty="0"/>
              <a:t>Request for confidential information i.e. passwords</a:t>
            </a:r>
          </a:p>
          <a:p>
            <a:r>
              <a:rPr lang="en-US" sz="1800" dirty="0"/>
              <a:t>Sense of urgency</a:t>
            </a:r>
          </a:p>
          <a:p>
            <a:r>
              <a:rPr lang="en-US" sz="1800" dirty="0"/>
              <a:t>Check grammar and spelling errors</a:t>
            </a:r>
            <a:endParaRPr lang="en-KE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CB879-CC27-3682-A423-6E8680E3D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108327"/>
            <a:ext cx="4566635" cy="251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5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6C2C2-75A3-AA87-0391-786819EE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phishing attack</a:t>
            </a:r>
            <a:endParaRPr lang="en-K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69A11-4F2B-694B-CBBE-39638891C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Red Flags</a:t>
            </a:r>
            <a:endParaRPr lang="en-K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6E44F-3B37-EBFA-38FD-F95938FE3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878294"/>
          </a:xfrm>
        </p:spPr>
        <p:txBody>
          <a:bodyPr>
            <a:normAutofit/>
          </a:bodyPr>
          <a:lstStyle/>
          <a:p>
            <a:r>
              <a:rPr lang="en-US" sz="2000" dirty="0"/>
              <a:t>The sender email address. The domain is not from Microsoft or the company.</a:t>
            </a:r>
          </a:p>
          <a:p>
            <a:r>
              <a:rPr lang="en-US" sz="2000" dirty="0"/>
              <a:t>The view details link inciting curiosity to click</a:t>
            </a:r>
          </a:p>
          <a:p>
            <a:r>
              <a:rPr lang="en-US" sz="2000" dirty="0"/>
              <a:t>Sense of urgency – Subject: High-Severity alert</a:t>
            </a:r>
            <a:endParaRPr lang="en-KE" sz="2000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AC45CFC-432D-4AB3-F6EF-3DF01BAF2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72" y="2126847"/>
            <a:ext cx="5738028" cy="299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7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7CAB1-9942-0EC0-C76F-4C2CF740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ACTIONS</a:t>
            </a:r>
            <a:endParaRPr lang="en-KE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050C9-8B1D-2D12-1859-09BF690D6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Do not click on any links</a:t>
            </a:r>
            <a:r>
              <a:rPr lang="en-US" sz="2400" dirty="0"/>
              <a:t> or hover over them with your mouse.</a:t>
            </a:r>
          </a:p>
          <a:p>
            <a:r>
              <a:rPr lang="en-US" sz="2400" b="1" dirty="0"/>
              <a:t>Do not open any attachments</a:t>
            </a:r>
            <a:r>
              <a:rPr lang="en-US" sz="2400" dirty="0"/>
              <a:t>, as they may contain malware.</a:t>
            </a:r>
          </a:p>
          <a:p>
            <a:r>
              <a:rPr lang="en-US" sz="2400" b="1" dirty="0"/>
              <a:t>Do not reply</a:t>
            </a:r>
            <a:r>
              <a:rPr lang="en-US" sz="2400" dirty="0"/>
              <a:t> to the sender or call any phone numbers provided in the email.</a:t>
            </a:r>
          </a:p>
          <a:p>
            <a:r>
              <a:rPr lang="en-US" sz="2400" b="1" dirty="0"/>
              <a:t>Do not forward the email</a:t>
            </a:r>
            <a:r>
              <a:rPr lang="en-US" sz="2400" dirty="0"/>
              <a:t> to colleagues</a:t>
            </a:r>
          </a:p>
          <a:p>
            <a:r>
              <a:rPr lang="en-US" sz="2400" dirty="0"/>
              <a:t>Report the email to your IT department immediately</a:t>
            </a:r>
          </a:p>
          <a:p>
            <a:r>
              <a:rPr lang="en-US" sz="2400" dirty="0"/>
              <a:t>Delete the email</a:t>
            </a:r>
          </a:p>
          <a:p>
            <a:r>
              <a:rPr lang="en-US" sz="2400" dirty="0"/>
              <a:t>If you accidentally clicked on the link or opened an attachment, disconnect your device from the network and notify the IT department immediately. Do not switch off the machine.</a:t>
            </a:r>
            <a:endParaRPr lang="en-KE" sz="2400" dirty="0"/>
          </a:p>
        </p:txBody>
      </p:sp>
    </p:spTree>
    <p:extLst>
      <p:ext uri="{BB962C8B-B14F-4D97-AF65-F5344CB8AC3E}">
        <p14:creationId xmlns:p14="http://schemas.microsoft.com/office/powerpoint/2010/main" val="3542516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BCA0-ABBE-627D-37FF-A3D9E736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Protection &amp; Information Handling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5B593-F6AA-E220-DC0B-24A7478C7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Data Classification- </a:t>
            </a:r>
            <a:r>
              <a:rPr lang="en-US" sz="2000" dirty="0"/>
              <a:t>Process of analyzing &amp;categorizing data based on sensitivity, value and risk to apply appropriate security, governance and compliance measures.</a:t>
            </a:r>
          </a:p>
          <a:p>
            <a:r>
              <a:rPr lang="en-US" sz="2000" dirty="0"/>
              <a:t>Data Classification levels:</a:t>
            </a:r>
          </a:p>
          <a:p>
            <a:pPr lvl="1"/>
            <a:r>
              <a:rPr lang="en-US" sz="2000" b="1" i="1" dirty="0"/>
              <a:t>Public</a:t>
            </a:r>
            <a:r>
              <a:rPr lang="en-US" sz="2000" dirty="0"/>
              <a:t> – safe to share externally</a:t>
            </a:r>
          </a:p>
          <a:p>
            <a:pPr lvl="1"/>
            <a:r>
              <a:rPr lang="en-US" sz="2000" b="1" i="1" dirty="0"/>
              <a:t>Internal</a:t>
            </a:r>
            <a:r>
              <a:rPr lang="en-US" sz="2000" dirty="0"/>
              <a:t> – for staff use only</a:t>
            </a:r>
          </a:p>
          <a:p>
            <a:pPr lvl="1"/>
            <a:r>
              <a:rPr lang="en-US" sz="2000" b="1" i="1" dirty="0"/>
              <a:t>Confidential </a:t>
            </a:r>
            <a:r>
              <a:rPr lang="en-US" sz="2000" dirty="0"/>
              <a:t>– limited access, business-critical</a:t>
            </a:r>
          </a:p>
          <a:p>
            <a:pPr lvl="1"/>
            <a:r>
              <a:rPr lang="en-US" sz="2000" b="1" i="1" dirty="0"/>
              <a:t>Restricted / Highly Sensitive </a:t>
            </a:r>
            <a:r>
              <a:rPr lang="en-US" sz="2000" dirty="0"/>
              <a:t>– strict controls</a:t>
            </a:r>
          </a:p>
          <a:p>
            <a:pPr lvl="1"/>
            <a:endParaRPr lang="en-US" sz="2000" dirty="0"/>
          </a:p>
          <a:p>
            <a:r>
              <a:rPr lang="en-US" sz="2000" dirty="0"/>
              <a:t>Data should be processed based on the organization’s data classification policy to prevent incidents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AutoShape 2" descr="What Is Data Classification and How Can it Be Used?">
            <a:extLst>
              <a:ext uri="{FF2B5EF4-FFF2-40B4-BE49-F238E27FC236}">
                <a16:creationId xmlns:a16="http://schemas.microsoft.com/office/drawing/2014/main" id="{A7AE7280-1312-03BF-0902-840BF6DD60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K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F9CB1B-709F-DF9A-6AE4-411111994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687" y="2404189"/>
            <a:ext cx="3922721" cy="204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0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5C3D5-1E8D-871C-3FA7-E0191E7A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</a:t>
            </a:r>
            <a:endParaRPr lang="en-KE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28262B-83D0-D642-3BDD-133BB23CF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506940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124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43AB-3A17-155F-51C9-0F3A43E1E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Handling Best Practices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E00A4-EA0B-E895-5074-4C104A93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 and process data based on policy</a:t>
            </a:r>
          </a:p>
          <a:p>
            <a:r>
              <a:rPr lang="en-US" dirty="0"/>
              <a:t>Use approved systems only – No personal apps</a:t>
            </a:r>
          </a:p>
          <a:p>
            <a:r>
              <a:rPr lang="en-US" dirty="0"/>
              <a:t>Clean desk policy</a:t>
            </a:r>
          </a:p>
          <a:p>
            <a:r>
              <a:rPr lang="en-US" dirty="0"/>
              <a:t>Lock screens</a:t>
            </a:r>
          </a:p>
          <a:p>
            <a:r>
              <a:rPr lang="en-US" dirty="0"/>
              <a:t>Proper disposal</a:t>
            </a:r>
          </a:p>
          <a:p>
            <a:r>
              <a:rPr lang="en-US" dirty="0"/>
              <a:t>Verify requests before sharing data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6793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A5F2-C6B2-2D3F-B634-3D5B6AEB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 Awareness &amp; Reporting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D46EA-1D0F-AC7B-DAFE-B28808809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Incident</a:t>
            </a:r>
            <a:r>
              <a:rPr lang="en-US" sz="2400" dirty="0"/>
              <a:t> – Any event that can compromise the confidentiality, integrity or availability of an organization's information or information systems</a:t>
            </a:r>
          </a:p>
          <a:p>
            <a:r>
              <a:rPr lang="en-US" sz="2400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Opening a malicious attachment or link</a:t>
            </a:r>
          </a:p>
          <a:p>
            <a:pPr lvl="1"/>
            <a:r>
              <a:rPr lang="en-US" dirty="0"/>
              <a:t>Exposure of confidential data</a:t>
            </a:r>
          </a:p>
          <a:p>
            <a:pPr lvl="1"/>
            <a:r>
              <a:rPr lang="en-US" dirty="0"/>
              <a:t>Lost or stolen organization devices</a:t>
            </a:r>
          </a:p>
          <a:p>
            <a:pPr lvl="1"/>
            <a:r>
              <a:rPr lang="en-US" dirty="0"/>
              <a:t>Suspicious system behavior i.e. pop-ups, strange messages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6523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3B2C0-62A4-7D2D-2DC3-3FBE5D29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A6A34D-E899-B107-A265-59B689890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1050C2C-9852-961F-8A22-58C76F97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2FF84-A699-D5B9-8CCE-74C3BF4B9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ACTIONS</a:t>
            </a:r>
            <a:endParaRPr lang="en-KE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1DE664E-C9DA-9C7E-89E5-7973AF9EC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709EF8A-D43E-FA76-C177-2493DDF0B1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6588" y="1133997"/>
            <a:ext cx="705857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KE" sz="2400" dirty="0"/>
              <a:t>If an incident occurs: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KE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KE" sz="2400" b="1" dirty="0"/>
              <a:t>1. </a:t>
            </a:r>
            <a:r>
              <a:rPr lang="en-KE" altLang="en-KE" sz="2400" b="1" dirty="0"/>
              <a:t>Stop </a:t>
            </a:r>
            <a:r>
              <a:rPr lang="en-KE" altLang="en-KE" sz="2400" dirty="0"/>
              <a:t>– Don’t click, reply, or fix it yourself</a:t>
            </a:r>
            <a:r>
              <a:rPr lang="en-US" altLang="en-KE" sz="2400" dirty="0"/>
              <a:t>. Disconnect your machine from the network.</a:t>
            </a:r>
            <a:endParaRPr lang="en-KE" altLang="en-KE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KE" sz="2400" b="1" dirty="0"/>
              <a:t>2. </a:t>
            </a:r>
            <a:r>
              <a:rPr lang="en-KE" altLang="en-KE" sz="2400" b="1" dirty="0"/>
              <a:t>Preserve </a:t>
            </a:r>
            <a:r>
              <a:rPr lang="en-KE" altLang="en-KE" sz="2400" dirty="0"/>
              <a:t>– Leave emails, files, or messages intact</a:t>
            </a:r>
            <a:r>
              <a:rPr lang="en-US" altLang="en-KE" sz="2400" dirty="0"/>
              <a:t>. Do not switch off your machine.</a:t>
            </a:r>
            <a:endParaRPr lang="en-KE" altLang="en-KE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KE" sz="2400" b="1" dirty="0"/>
              <a:t>3. </a:t>
            </a:r>
            <a:r>
              <a:rPr lang="en-KE" altLang="en-KE" sz="2400" b="1" dirty="0"/>
              <a:t>Report – </a:t>
            </a:r>
            <a:r>
              <a:rPr lang="en-KE" altLang="en-KE" sz="2400" dirty="0"/>
              <a:t>Use the official reporting channel immediately</a:t>
            </a:r>
            <a:r>
              <a:rPr lang="en-US" altLang="en-KE" sz="2400" dirty="0"/>
              <a:t>. Report to IT department.</a:t>
            </a:r>
            <a:endParaRPr lang="en-KE" altLang="en-KE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KE" sz="2400" b="1" dirty="0"/>
              <a:t>4. </a:t>
            </a:r>
            <a:r>
              <a:rPr lang="en-KE" altLang="en-KE" sz="2400" b="1" dirty="0"/>
              <a:t>Follow instructions </a:t>
            </a:r>
            <a:r>
              <a:rPr lang="en-KE" altLang="en-KE" sz="2400" dirty="0"/>
              <a:t>– Cooperate with the response team</a:t>
            </a:r>
            <a:r>
              <a:rPr lang="en-US" altLang="en-KE" sz="2400" dirty="0"/>
              <a:t>. Give as much information as possible to aid in the investigation.</a:t>
            </a:r>
            <a:endParaRPr lang="en-KE" altLang="en-KE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KE" sz="2400" b="1" dirty="0"/>
              <a:t>5. </a:t>
            </a:r>
            <a:r>
              <a:rPr lang="en-KE" altLang="en-KE" sz="2400" b="1" dirty="0"/>
              <a:t>Do not share – </a:t>
            </a:r>
            <a:r>
              <a:rPr lang="en-KE" altLang="en-KE" sz="2400" dirty="0"/>
              <a:t>Avoid discussing the incident externally</a:t>
            </a:r>
            <a:r>
              <a:rPr lang="en-US" altLang="en-KE" sz="2400" dirty="0"/>
              <a:t>.</a:t>
            </a:r>
            <a:endParaRPr lang="en-KE" altLang="en-KE" sz="2400" dirty="0"/>
          </a:p>
        </p:txBody>
      </p:sp>
    </p:spTree>
    <p:extLst>
      <p:ext uri="{BB962C8B-B14F-4D97-AF65-F5344CB8AC3E}">
        <p14:creationId xmlns:p14="http://schemas.microsoft.com/office/powerpoint/2010/main" val="114917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55CD9C-8219-D1FB-CEE6-95297886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Q &amp; A</a:t>
            </a:r>
            <a:endParaRPr lang="en-KE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300DE-0EEC-4B8E-6C60-459BA831B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NEVER SHARE YOUR PASSWORD WITH ANYONE</a:t>
            </a:r>
          </a:p>
          <a:p>
            <a:pPr marL="0" indent="0">
              <a:buNone/>
            </a:pPr>
            <a:endParaRPr lang="en-K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186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636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SECURITY AWARENESS TRAINING</vt:lpstr>
      <vt:lpstr>FUNDAMENTALS</vt:lpstr>
      <vt:lpstr>SOCIAL ENGINEERING &amp; PHISHING</vt:lpstr>
      <vt:lpstr>PHISHING</vt:lpstr>
      <vt:lpstr>Example of a phishing attack</vt:lpstr>
      <vt:lpstr>ACTIONS</vt:lpstr>
      <vt:lpstr>Data Protection &amp; Information Handling</vt:lpstr>
      <vt:lpstr>Data</vt:lpstr>
      <vt:lpstr>Data Handling Best Practices</vt:lpstr>
      <vt:lpstr>Incident Awareness &amp; Reporting</vt:lpstr>
      <vt:lpstr>ACTIONS</vt:lpstr>
      <vt:lpstr>Q &amp; A</vt:lpstr>
    </vt:vector>
  </TitlesOfParts>
  <Company>The Cooperative Bank of Kenya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Tania Nafula [ICT Security]</dc:creator>
  <cp:lastModifiedBy>Tania Nafula [ICT Security]</cp:lastModifiedBy>
  <cp:revision>1</cp:revision>
  <dcterms:created xsi:type="dcterms:W3CDTF">2025-12-30T21:17:42Z</dcterms:created>
  <dcterms:modified xsi:type="dcterms:W3CDTF">2025-12-31T01:38:09Z</dcterms:modified>
</cp:coreProperties>
</file>